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259406f2fc49b2" /><Relationship Type="http://schemas.openxmlformats.org/officeDocument/2006/relationships/extended-properties" Target="/docProps/app.xml" Id="R09d483ebd7aa4154" /><Relationship Type="http://schemas.openxmlformats.org/officeDocument/2006/relationships/officeDocument" Target="/ppt/presentation.xml" Id="R06c4568741d3417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b59d7efba324da2"/>
  </p:sldMasterIdLst>
  <p:notesMasterIdLst>
    <p:notesMasterId xmlns:r="http://schemas.openxmlformats.org/officeDocument/2006/relationships" r:id="R9340b2f468aa4bad"/>
  </p:notesMasterIdLst>
  <p:sldIdLst>
    <p:sldId xmlns:r="http://schemas.openxmlformats.org/officeDocument/2006/relationships" id="256" r:id="R613befdf3eac4749"/>
    <p:sldId xmlns:r="http://schemas.openxmlformats.org/officeDocument/2006/relationships" id="257" r:id="R7047ceb5acaf46a9"/>
    <p:sldId xmlns:r="http://schemas.openxmlformats.org/officeDocument/2006/relationships" id="258" r:id="R80b60c73770649d9"/>
    <p:sldId xmlns:r="http://schemas.openxmlformats.org/officeDocument/2006/relationships" id="259" r:id="R318bdaa039d341ee"/>
    <p:sldId xmlns:r="http://schemas.openxmlformats.org/officeDocument/2006/relationships" id="260" r:id="R4bf16f693a784d98"/>
    <p:sldId xmlns:r="http://schemas.openxmlformats.org/officeDocument/2006/relationships" id="261" r:id="R98f3a261a1b04a4e"/>
    <p:sldId xmlns:r="http://schemas.openxmlformats.org/officeDocument/2006/relationships" id="262" r:id="R1ddb601dfcc54fd7"/>
    <p:sldId xmlns:r="http://schemas.openxmlformats.org/officeDocument/2006/relationships" id="263" r:id="R4c723f56019c4afd"/>
    <p:sldId xmlns:r="http://schemas.openxmlformats.org/officeDocument/2006/relationships" id="264" r:id="Rca84dc24422c4e0b"/>
    <p:sldId xmlns:r="http://schemas.openxmlformats.org/officeDocument/2006/relationships" id="265" r:id="R38f48f37e84b407c"/>
    <p:sldId xmlns:r="http://schemas.openxmlformats.org/officeDocument/2006/relationships" id="266" r:id="R0b43d352b573455a"/>
    <p:sldId xmlns:r="http://schemas.openxmlformats.org/officeDocument/2006/relationships" id="267" r:id="R076683a4d6474d74"/>
    <p:sldId xmlns:r="http://schemas.openxmlformats.org/officeDocument/2006/relationships" id="268" r:id="R8907e896f9ba4e6c"/>
    <p:sldId xmlns:r="http://schemas.openxmlformats.org/officeDocument/2006/relationships" id="269" r:id="Rda829bda297f4057"/>
    <p:sldId xmlns:r="http://schemas.openxmlformats.org/officeDocument/2006/relationships" id="270" r:id="R5e67774eb8fd46cf"/>
    <p:sldId xmlns:r="http://schemas.openxmlformats.org/officeDocument/2006/relationships" id="271" r:id="R002c1b99f1d04b03"/>
    <p:sldId xmlns:r="http://schemas.openxmlformats.org/officeDocument/2006/relationships" id="272" r:id="R63d2c7aa1f7d47a7"/>
    <p:sldId xmlns:r="http://schemas.openxmlformats.org/officeDocument/2006/relationships" id="273" r:id="R1dde6c3e7f5f4bc9"/>
  </p:sldIdLst>
  <p:sldSz cx="12192000" cy="6858000"/>
  <p:notesSz cx="6858000" cy="9144000"/>
  <p:embeddedFontLst>
    <p:embeddedFont>
      <p:font typeface="Lora"/>
      <p:regular xmlns:r="http://schemas.openxmlformats.org/officeDocument/2006/relationships" r:id="Re3aab38e4a2d4d08"/>
      <p:bold xmlns:r="http://schemas.openxmlformats.org/officeDocument/2006/relationships" r:id="Rd17949d9ee874b6c"/>
      <p:italic xmlns:r="http://schemas.openxmlformats.org/officeDocument/2006/relationships" r:id="R38be9f0dfdef48f1"/>
      <p:boldItalic xmlns:r="http://schemas.openxmlformats.org/officeDocument/2006/relationships" r:id="R691e646053fd40a7"/>
    </p:embeddedFont>
    <p:embeddedFont>
      <p:font typeface="OpenAI Sans"/>
      <p:regular xmlns:r="http://schemas.openxmlformats.org/officeDocument/2006/relationships" r:id="Ra33fb04f4b4d4257"/>
      <p:bold xmlns:r="http://schemas.openxmlformats.org/officeDocument/2006/relationships" r:id="R83c1b432edd441fa"/>
      <p:italic xmlns:r="http://schemas.openxmlformats.org/officeDocument/2006/relationships" r:id="R28ffcfc4adae4536"/>
      <p:boldItalic xmlns:r="http://schemas.openxmlformats.org/officeDocument/2006/relationships" r:id="R3ec765a1fb444f94"/>
    </p:embeddedFont>
    <p:embeddedFont>
      <p:font typeface="Roboto"/>
      <p:regular xmlns:r="http://schemas.openxmlformats.org/officeDocument/2006/relationships" r:id="Rdf6b7ed69a664286"/>
      <p:bold xmlns:r="http://schemas.openxmlformats.org/officeDocument/2006/relationships" r:id="R4835363e509443c3"/>
      <p:italic xmlns:r="http://schemas.openxmlformats.org/officeDocument/2006/relationships" r:id="R33fb1cd4dbcf47bc"/>
      <p:boldItalic xmlns:r="http://schemas.openxmlformats.org/officeDocument/2006/relationships" r:id="Re83977940fc54dd1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3e458abbf14478" /><Relationship Type="http://schemas.openxmlformats.org/officeDocument/2006/relationships/slideMaster" Target="/ppt/slideMasters/slideMaster1.xml" Id="R5b59d7efba324da2" /><Relationship Type="http://schemas.openxmlformats.org/officeDocument/2006/relationships/notesMaster" Target="/ppt/notesMasters/notesMaster1.xml" Id="R9340b2f468aa4bad" /><Relationship Type="http://schemas.openxmlformats.org/officeDocument/2006/relationships/presProps" Target="/ppt/presProps.xml" Id="Rb9fa7c900d714115" /><Relationship Type="http://schemas.openxmlformats.org/officeDocument/2006/relationships/viewProps" Target="/ppt/viewProps.xml" Id="R20a301210ff94a76" /><Relationship Type="http://schemas.openxmlformats.org/officeDocument/2006/relationships/tableStyles" Target="/ppt/tableStyles.xml" Id="R7eebd155d65c47cc" /><Relationship Type="http://schemas.openxmlformats.org/officeDocument/2006/relationships/font" Target="/ppt/fonts/font.dat" Id="Re3aab38e4a2d4d08" /><Relationship Type="http://schemas.openxmlformats.org/officeDocument/2006/relationships/font" Target="/ppt/fonts/font2.dat" Id="Rd17949d9ee874b6c" /><Relationship Type="http://schemas.openxmlformats.org/officeDocument/2006/relationships/font" Target="/ppt/fonts/font3.dat" Id="R38be9f0dfdef48f1" /><Relationship Type="http://schemas.openxmlformats.org/officeDocument/2006/relationships/font" Target="/ppt/fonts/font4.dat" Id="R691e646053fd40a7" /><Relationship Type="http://schemas.openxmlformats.org/officeDocument/2006/relationships/font" Target="/ppt/fonts/font5.dat" Id="Ra33fb04f4b4d4257" /><Relationship Type="http://schemas.openxmlformats.org/officeDocument/2006/relationships/font" Target="/ppt/fonts/font6.dat" Id="R83c1b432edd441fa" /><Relationship Type="http://schemas.openxmlformats.org/officeDocument/2006/relationships/font" Target="/ppt/fonts/font7.dat" Id="R28ffcfc4adae4536" /><Relationship Type="http://schemas.openxmlformats.org/officeDocument/2006/relationships/font" Target="/ppt/fonts/font8.dat" Id="R3ec765a1fb444f94" /><Relationship Type="http://schemas.openxmlformats.org/officeDocument/2006/relationships/font" Target="/ppt/fonts/font9.dat" Id="Rdf6b7ed69a664286" /><Relationship Type="http://schemas.openxmlformats.org/officeDocument/2006/relationships/font" Target="/ppt/fonts/font10.dat" Id="R4835363e509443c3" /><Relationship Type="http://schemas.openxmlformats.org/officeDocument/2006/relationships/font" Target="/ppt/fonts/font11.dat" Id="R33fb1cd4dbcf47bc" /><Relationship Type="http://schemas.openxmlformats.org/officeDocument/2006/relationships/font" Target="/ppt/fonts/font12.dat" Id="Re83977940fc54dd1" /><Relationship Type="http://schemas.openxmlformats.org/officeDocument/2006/relationships/slide" Target="/ppt/slides/slide1.xml" Id="R613befdf3eac4749" /><Relationship Type="http://schemas.openxmlformats.org/officeDocument/2006/relationships/slide" Target="/ppt/slides/slide2.xml" Id="R7047ceb5acaf46a9" /><Relationship Type="http://schemas.openxmlformats.org/officeDocument/2006/relationships/slide" Target="/ppt/slides/slide3.xml" Id="R80b60c73770649d9" /><Relationship Type="http://schemas.openxmlformats.org/officeDocument/2006/relationships/slide" Target="/ppt/slides/slide4.xml" Id="R318bdaa039d341ee" /><Relationship Type="http://schemas.openxmlformats.org/officeDocument/2006/relationships/slide" Target="/ppt/slides/slide5.xml" Id="R4bf16f693a784d98" /><Relationship Type="http://schemas.openxmlformats.org/officeDocument/2006/relationships/slide" Target="/ppt/slides/slide6.xml" Id="R98f3a261a1b04a4e" /><Relationship Type="http://schemas.openxmlformats.org/officeDocument/2006/relationships/slide" Target="/ppt/slides/slide7.xml" Id="R1ddb601dfcc54fd7" /><Relationship Type="http://schemas.openxmlformats.org/officeDocument/2006/relationships/slide" Target="/ppt/slides/slide8.xml" Id="R4c723f56019c4afd" /><Relationship Type="http://schemas.openxmlformats.org/officeDocument/2006/relationships/slide" Target="/ppt/slides/slide9.xml" Id="Rca84dc24422c4e0b" /><Relationship Type="http://schemas.openxmlformats.org/officeDocument/2006/relationships/slide" Target="/ppt/slides/slide10.xml" Id="R38f48f37e84b407c" /><Relationship Type="http://schemas.openxmlformats.org/officeDocument/2006/relationships/slide" Target="/ppt/slides/slide11.xml" Id="R0b43d352b573455a" /><Relationship Type="http://schemas.openxmlformats.org/officeDocument/2006/relationships/slide" Target="/ppt/slides/slide12.xml" Id="R076683a4d6474d74" /><Relationship Type="http://schemas.openxmlformats.org/officeDocument/2006/relationships/slide" Target="/ppt/slides/slide13.xml" Id="R8907e896f9ba4e6c" /><Relationship Type="http://schemas.openxmlformats.org/officeDocument/2006/relationships/slide" Target="/ppt/slides/slide14.xml" Id="Rda829bda297f4057" /><Relationship Type="http://schemas.openxmlformats.org/officeDocument/2006/relationships/slide" Target="/ppt/slides/slide15.xml" Id="R5e67774eb8fd46cf" /><Relationship Type="http://schemas.openxmlformats.org/officeDocument/2006/relationships/slide" Target="/ppt/slides/slide16.xml" Id="R002c1b99f1d04b03" /><Relationship Type="http://schemas.openxmlformats.org/officeDocument/2006/relationships/slide" Target="/ppt/slides/slide17.xml" Id="R63d2c7aa1f7d47a7" /><Relationship Type="http://schemas.openxmlformats.org/officeDocument/2006/relationships/slide" Target="/ppt/slides/slide18.xml" Id="R1dde6c3e7f5f4b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b1f849c4464a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2642bb59c14649" /><Relationship Type="http://schemas.openxmlformats.org/officeDocument/2006/relationships/notesMaster" Target="/ppt/notesMasters/notesMaster1.xml" Id="Rd60bb36630e148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a8f3376644433b" /><Relationship Type="http://schemas.openxmlformats.org/officeDocument/2006/relationships/notesMaster" Target="/ppt/notesMasters/notesMaster1.xml" Id="Rc7ed699708d84b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c49cc8c4f04173" /><Relationship Type="http://schemas.openxmlformats.org/officeDocument/2006/relationships/notesMaster" Target="/ppt/notesMasters/notesMaster1.xml" Id="R77ee59e5f07345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640d70ca4f4aeb" /><Relationship Type="http://schemas.openxmlformats.org/officeDocument/2006/relationships/notesMaster" Target="/ppt/notesMasters/notesMaster1.xml" Id="R7e5ebe22a3234d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b856ecf96a40b2" /><Relationship Type="http://schemas.openxmlformats.org/officeDocument/2006/relationships/notesMaster" Target="/ppt/notesMasters/notesMaster1.xml" Id="R7a847447d82047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e35864f49e4c5d" /><Relationship Type="http://schemas.openxmlformats.org/officeDocument/2006/relationships/notesMaster" Target="/ppt/notesMasters/notesMaster1.xml" Id="Ref2fa20af3444b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53e7faecdf4982" /><Relationship Type="http://schemas.openxmlformats.org/officeDocument/2006/relationships/notesMaster" Target="/ppt/notesMasters/notesMaster1.xml" Id="Re2a4017da8b544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35a0a2057f4447" /><Relationship Type="http://schemas.openxmlformats.org/officeDocument/2006/relationships/notesMaster" Target="/ppt/notesMasters/notesMaster1.xml" Id="Rae9efbb3eca846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149fc625364b15" /><Relationship Type="http://schemas.openxmlformats.org/officeDocument/2006/relationships/notesMaster" Target="/ppt/notesMasters/notesMaster1.xml" Id="R4b83f74204514a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55751f8eb843c4" /><Relationship Type="http://schemas.openxmlformats.org/officeDocument/2006/relationships/notesMaster" Target="/ppt/notesMasters/notesMaster1.xml" Id="R2f964fb08f6247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593394ec3d411f" /><Relationship Type="http://schemas.openxmlformats.org/officeDocument/2006/relationships/notesMaster" Target="/ppt/notesMasters/notesMaster1.xml" Id="R9033e147e5db4e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5308620a5b4099" /><Relationship Type="http://schemas.openxmlformats.org/officeDocument/2006/relationships/notesMaster" Target="/ppt/notesMasters/notesMaster1.xml" Id="R5bfe7e2cc1a646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29b315ded04dae" /><Relationship Type="http://schemas.openxmlformats.org/officeDocument/2006/relationships/notesMaster" Target="/ppt/notesMasters/notesMaster1.xml" Id="R79fcd83057334d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abce7b203649f6" /><Relationship Type="http://schemas.openxmlformats.org/officeDocument/2006/relationships/notesMaster" Target="/ppt/notesMasters/notesMaster1.xml" Id="R22dac641d26f48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ebef3d2c2b445a" /><Relationship Type="http://schemas.openxmlformats.org/officeDocument/2006/relationships/notesMaster" Target="/ppt/notesMasters/notesMaster1.xml" Id="R9839d5e1f5b249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c4d9d1d9694373" /><Relationship Type="http://schemas.openxmlformats.org/officeDocument/2006/relationships/notesMaster" Target="/ppt/notesMasters/notesMaster1.xml" Id="R7b204662a46d4f5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2d900e2705c4732" /><Relationship Type="http://schemas.openxmlformats.org/officeDocument/2006/relationships/notesMaster" Target="/ppt/notesMasters/notesMaster1.xml" Id="R7e51deacc6fc4d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fefee2673843f8" /><Relationship Type="http://schemas.openxmlformats.org/officeDocument/2006/relationships/notesMaster" Target="/ppt/notesMasters/notesMaster1.xml" Id="R52d727fd56a045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ชื่อโครงงานเต็ม: การวิเคราะห์ปัจจัยร่วมและจัดพอร์ตการลงทุนความเสี่ยงต่ำด้วยพีชคณิตเชิงเส้น</a:t>
            </a:r>
            <a:endParaRPr/>
          </a:p>
          <a:p xmlns:a="http://schemas.openxmlformats.org/drawingml/2006/main">
            <a:r>
              <a:t>สถานะ: ข้อเสนอโครงงาน ยังไม่มีผลทดลองจากข้อมูลจริง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สมมติฐานที่จะทดสอบ ไม่ใช่ข้อสรุปว่า PCA ต้องดีกว่า การลดมิติอาจตัดข้อมูลที่เป็นประโยชน์ได้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https://mba.tuck.dartmouth.edu/pages/faculty/ken.french/data_library.html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https://mba.tuck.dartmouth.edu/pages/faculty/ken.french/ftp/10_Industry_Portfolios_daily_CSV.zip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https://mba.tuck.dartmouth.edu/pages/faculty/ken.french/ftp/F-F_Research_Data_Factors_daily_CSV.zip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ใช้ส่วน value-weighted returns ของ Industry Portfolios ตัวเลข 150+ เป็นเงื่อนไขขั้นต่ำ ไม่ใช่จำนวนแถวที่ตรวจนับแล้ว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https://mba.tuck.dartmouth.edu/pages/faculty/ken.french/data_library.html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https://mba.tuck.dartmouth.edu/pages/faculty/ken.french/ftp/10_Industry_Portfolios_daily_CSV.zip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https://mba.tuck.dartmouth.edu/pages/faculty/ken.french/ftp/F-F_Research_Data_Factors_daily_CSV.zip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ข้อมูลจริงเป็นพอร์ตอุตสาหกรรม ไม่ใช่หุ้นรายบริษัท ตรวจ -99.99 และ -999 ตามคำอธิบายแหล่งข้อมูล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ระบบ KKT: 2 × covariance × w + lambda × ones = 0 และ ones transpose × w =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สัดส่วนติดลบคือการขายชอร์ต แบบจำลองหลักอนุญาตขายชอร์ต หากห้ามต้องใช้วิธี optimization ที่มีข้อจำกัดอสมการ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https://mba.tuck.dartmouth.edu/pages/faculty/ken.french/ftp/F-F_Research_Data_Factors_daily_CSV.zip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แบบจำลอง: industry return minus RF = alpha + beta times Mkt-RF + error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beta ใช้อธิบายความสัมพันธ์ ไม่ได้พิสูจน์เหตุและผล และไม่ได้ใช้รับประกันผลตอบแทน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ใช้ covariance PCA โดย center ข้อมูลและไม่ scale แต่ละคอลัมน์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Eigenvalue ของ sample covariance เท่ากับ singular value squared divided by T minus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การเติม delta I ทำให้ truncated covariance ผกผันได้ delta เลือกจากข้อมูล train/validation เท่านั้น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คำนวณค่าเฉลี่ย PCA และ hyperparameters จาก train เท่านั้น หากเลือกค่าใช้ validation ช่วงปลาย train เช่น 2023 แล้ว refit ด้วย train ก่อน test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ทดสอบรายวัน ปรับกลับน้ำหนักเป้าหมายต้นเดือน น้ำหนักลอยตามผลตอบแทนระหว่างเดือน รายงาน turnover และสมมติฐานต้นทุน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เปลี่ยนช่วง train เพื่อวิเคราะห์ความไวโดยไม่เลือกแบบจำลองจากผล test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ข้อมูลสมมติสำหรับสาธิตเท่านั้น ข้อมูลจริงของโครงงานต้องไม่น้อยกว่า 150 เวกเตอร์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ใช้หน่วยเปอร์เซ็นต์ในตัวอย่าง ทำให้ covariance มีหน่วยเปอร์เซ็นต์ยกกำลังสอง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เมทริกซ์ตัวอย่างเป็นทแยง Gaussian จึงไม่ต้องกำจัดพจน์นอกแนวทแยง แต่ Gauss-Jordan ทำให้ pivot เป็น 1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เพื่อแสดงการกำจัดตัวแปรที่ไม่เป็นศูนย์ในรายงานฉบับเต็ม ควรเลือก covariance 3x3 จากข้อมูลจริงเพิ่มเติม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ตรวจเลข: portfolio variance = (4/3)*(36/49)^2 + (16/3)*(9/49)^2 + 12*(4/49)^2 = 48/49 (% squared). standard deviation sqrt(48/49) = 0.989743%. Equal weight variance = (4/3+16/3+12)/9 = 56/27. std=1.4401646%. Reduction=1-sqrt((48/49)/(56/27)) = 0.31276. ตัวเลขบนสไลด์ปัดเศษ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สถานะเป็นแผนทดลอง ยังไม่มีผลจากข้อมูลจริง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เพิ่มการทดลอง covariance ปกติบวก delta I โดยใช้ delta เดียวกับพอร์ต C เพื่อแยกผล PCA ออกจาก regularization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รายงาน sum absolute weights, negative weights และ turnover เพราะ leverage อาจต่างกัน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สมมติฐานต้นทุนและต้นทุนขายชอร์ตต้องระบุเมื่อรายงาน backtest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0e0b5376e43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d2c2fc52943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5198ff0de48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eae0c7c0546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d89f699d24e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e9942a71a43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62404aad8419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627c81d6f4c1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aa160870ed46bd" /><Relationship Type="http://schemas.openxmlformats.org/officeDocument/2006/relationships/slideLayout" Target="/ppt/slideLayouts/slideLayout1.xml" Id="Rfc8eb051c5234e57" /><Relationship Type="http://schemas.openxmlformats.org/officeDocument/2006/relationships/slideLayout" Target="/ppt/slideLayouts/slideLayout2.xml" Id="Re7aeb13918ff48ed" /><Relationship Type="http://schemas.openxmlformats.org/officeDocument/2006/relationships/slideLayout" Target="/ppt/slideLayouts/slideLayout3.xml" Id="R2916e972d5984bf0" /><Relationship Type="http://schemas.openxmlformats.org/officeDocument/2006/relationships/slideLayout" Target="/ppt/slideLayouts/slideLayout4.xml" Id="R211e2c1b74fc4437" /><Relationship Type="http://schemas.openxmlformats.org/officeDocument/2006/relationships/slideLayout" Target="/ppt/slideLayouts/slideLayout5.xml" Id="R026d96f3f8cf449c" /><Relationship Type="http://schemas.openxmlformats.org/officeDocument/2006/relationships/slideLayout" Target="/ppt/slideLayouts/slideLayout6.xml" Id="R19157c1f0efb4088" /><Relationship Type="http://schemas.openxmlformats.org/officeDocument/2006/relationships/slideLayout" Target="/ppt/slideLayouts/slideLayout7.xml" Id="R00905d178b61492f" /><Relationship Type="http://schemas.openxmlformats.org/officeDocument/2006/relationships/slideLayout" Target="/ppt/slideLayouts/slideLayout8.xml" Id="Rf717f4c37de0421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eb051c5234e57"/>
    <p:sldLayoutId xmlns:r="http://schemas.openxmlformats.org/officeDocument/2006/relationships" id="2147483650" r:id="Re7aeb13918ff48ed"/>
    <p:sldLayoutId xmlns:r="http://schemas.openxmlformats.org/officeDocument/2006/relationships" id="2147483651" r:id="R2916e972d5984bf0"/>
    <p:sldLayoutId xmlns:r="http://schemas.openxmlformats.org/officeDocument/2006/relationships" id="2147483652" r:id="R211e2c1b74fc4437"/>
    <p:sldLayoutId xmlns:r="http://schemas.openxmlformats.org/officeDocument/2006/relationships" id="2147483653" r:id="R026d96f3f8cf449c"/>
    <p:sldLayoutId xmlns:r="http://schemas.openxmlformats.org/officeDocument/2006/relationships" id="2147483654" r:id="R19157c1f0efb4088"/>
    <p:sldLayoutId xmlns:r="http://schemas.openxmlformats.org/officeDocument/2006/relationships" id="2147483655" r:id="R00905d178b61492f"/>
    <p:sldLayoutId xmlns:r="http://schemas.openxmlformats.org/officeDocument/2006/relationships" id="2147483656" r:id="Rf717f4c37de0421f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9adc0034749f5" /><Relationship Type="http://schemas.openxmlformats.org/officeDocument/2006/relationships/notesSlide" Target="/ppt/notesSlides/notesSlide1.xml" Id="R125db5ba9e2948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1fc9d70364308" /><Relationship Type="http://schemas.openxmlformats.org/officeDocument/2006/relationships/notesSlide" Target="/ppt/notesSlides/notesSlide2.xml" Id="Rb71eb18c08094d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0a3e698b64b3b" /><Relationship Type="http://schemas.openxmlformats.org/officeDocument/2006/relationships/notesSlide" Target="/ppt/notesSlides/notesSlide3.xml" Id="Rb3cdd5e7aaed4a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da326a4b34654" /><Relationship Type="http://schemas.openxmlformats.org/officeDocument/2006/relationships/notesSlide" Target="/ppt/notesSlides/notesSlide4.xml" Id="R5035b2a4b03744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65d73b028411d" /><Relationship Type="http://schemas.openxmlformats.org/officeDocument/2006/relationships/hyperlink" Target="https://mba.tuck.dartmouth.edu/pages/faculty/ken.french/ftp/10_Industry_Portfolios_daily_CSV.zip" TargetMode="External" Id="Rf43fa81dfa8f4e63" /><Relationship Type="http://schemas.openxmlformats.org/officeDocument/2006/relationships/hyperlink" Target="https://mba.tuck.dartmouth.edu/pages/faculty/ken.french/ftp/F-F_Research_Data_Factors_daily_CSV.zip" TargetMode="External" Id="R9c8142deb9ed44db" /><Relationship Type="http://schemas.openxmlformats.org/officeDocument/2006/relationships/hyperlink" Target="https://mba.tuck.dartmouth.edu/pages/faculty/ken.french/data_library.html" TargetMode="External" Id="Rc08630af9d9e46c4" /><Relationship Type="http://schemas.openxmlformats.org/officeDocument/2006/relationships/notesSlide" Target="/ppt/notesSlides/notesSlide5.xml" Id="R6adc5965329147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0750d3520645ce" /><Relationship Type="http://schemas.openxmlformats.org/officeDocument/2006/relationships/notesSlide" Target="/ppt/notesSlides/notesSlide6.xml" Id="Rf657246fbd5546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3050c9f3934e7d" /><Relationship Type="http://schemas.openxmlformats.org/officeDocument/2006/relationships/notesSlide" Target="/ppt/notesSlides/notesSlide7.xml" Id="R104b217494e243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3b06476fc4a37" /><Relationship Type="http://schemas.openxmlformats.org/officeDocument/2006/relationships/notesSlide" Target="/ppt/notesSlides/notesSlide8.xml" Id="R75a8424cf35747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b282f53994585" /><Relationship Type="http://schemas.openxmlformats.org/officeDocument/2006/relationships/notesSlide" Target="/ppt/notesSlides/notesSlide9.xml" Id="R7df5b47d52294b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9b346ccb6f497f" /><Relationship Type="http://schemas.openxmlformats.org/officeDocument/2006/relationships/notesSlide" Target="/ppt/notesSlides/notesSlide10.xml" Id="R2551ee97e5754e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9ba6b65db4974" /><Relationship Type="http://schemas.openxmlformats.org/officeDocument/2006/relationships/notesSlide" Target="/ppt/notesSlides/notesSlide11.xml" Id="Rc8dff527e72a4f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bac29224242ad" /><Relationship Type="http://schemas.openxmlformats.org/officeDocument/2006/relationships/notesSlide" Target="/ppt/notesSlides/notesSlide12.xml" Id="Rf319a0ef82ff48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b951816544af4" /><Relationship Type="http://schemas.openxmlformats.org/officeDocument/2006/relationships/notesSlide" Target="/ppt/notesSlides/notesSlide13.xml" Id="R524c2209bf314b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e9778859824033" /><Relationship Type="http://schemas.openxmlformats.org/officeDocument/2006/relationships/notesSlide" Target="/ppt/notesSlides/notesSlide14.xml" Id="Rd3c2f59ef8ae4b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f04ce2b4448e2" /><Relationship Type="http://schemas.openxmlformats.org/officeDocument/2006/relationships/notesSlide" Target="/ppt/notesSlides/notesSlide15.xml" Id="Ra73d97c0291841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d126c7df94c09" /><Relationship Type="http://schemas.openxmlformats.org/officeDocument/2006/relationships/notesSlide" Target="/ppt/notesSlides/notesSlide16.xml" Id="R730ff057fec947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ce95d37334703" /><Relationship Type="http://schemas.openxmlformats.org/officeDocument/2006/relationships/notesSlide" Target="/ppt/notesSlides/notesSlide17.xml" Id="Ra9c370b5fe1e49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94855d05684f8b" /><Relationship Type="http://schemas.openxmlformats.org/officeDocument/2006/relationships/notesSlide" Target="/ppt/notesSlides/notesSlide18.xml" Id="R89ef3aff3eae4ac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การวิเคราะห์ปัจจัยร่วม</a:t>
            </a:r>
          </a:p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และจัดพอร์ตการลงทุน</a:t>
            </a:r>
          </a:p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4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ความเสี่ยงต่ำ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ด้วยพีชคณิตเชิงเส้น</a:t>
            </a:r>
          </a:p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Common Factor Analysis and Minimum-Variance Portfolio Construction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ctr">
              <a:defRPr sz="20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20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1. สรุปข้อเสนอโครงงาน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การจัดพอร์ตจากความเสี่ยงร่วม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ชื่อโครงงานและเป้าหมาย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1810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ปัญหา: หลายอุตสาหกรรมอาจเคลื่อนไหวคล้ายกัน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แนวทาง: วิเคราะห์ปัจจัยร่วมด้วย PCA และทดลองจัดสัดส่วนพอร์ต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เป้าหมาย: เปรียบเทียบความเสี่ยงในช่วงทดสอบกับพอร์ตลงทุนเท่ากัน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ปัญหาและแนวทางพัฒนา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ข้อมูลออนไลน์พร้อม URL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ทฤษฎีเวกเตอร์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ทฤษฎีเมทริกซ์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ctr">
              <a:defRPr sz="3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การลงทุนหลายอุตสาหกรรม</a:t>
            </a:r>
          </a:p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อาจยังมีความเสี่ยงร่วมกัน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ถ้าอุตสาหกรรมเคลื่อนไหวคล้ายกัน พอร์ตอาจกระจุกตัวในปัจจัยเดียว</a:t>
            </a:r>
          </a:p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ข้อมูลที่สัมพันธ์กันสูงอาจทำให้สัดส่วนลงทุนไวต่อการเปลี่ยนข้อมูล</a:t>
            </a:r>
          </a:p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คำถามวิจัย: PCA และการปรับ covariance ช่วยให้พอร์ต</a:t>
            </a:r>
          </a:p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มีความผันผวนต่ำลงและสัดส่วนเสถียรขึ้นหรือไม่?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ctr">
              <a:defRPr sz="20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20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2.1 ปัญหาและเป้าหมาย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2.2 ข้อมูลที่ใช้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แหล่งข้อมูล: Kenneth R. French Data Library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ผลตอบแทนพอร์ตอุตสาหกรรมรายวันและปัจจัยตลาด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ช่วงศึกษาที่กำหนด: 2020–2025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อุตสาหกรรมต่อวัน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หนึ่งเวกเตอร์มี 10 ค่า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150+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เกณฑ์ขั้นต่ำของจำนวนวัน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นับจริงหลังทำความสะอาด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6 ปี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2020–2023 สร้างแบบจำลอง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2024–2025 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แหล่งข้อมูลออนไลน์และ URL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10 Industry Portfolios — Daily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  <a:hlinkClick xmlns:r="http://schemas.openxmlformats.org/officeDocument/2006/relationships" r:id="Rf43fa81dfa8f4e63"/>
              </a:rPr>
              <a:t>ลิงก์ 1: ข้อมูลอุตสาหกรรม (CSV ZIP)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112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ดาวน์โหลดผลตอบแทนอุตสาหกรรมจากลิงก์ 1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ใช้ Fama/French 3 Factors — Daily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สำหรับปัจจัยตลาดและอัตราปลอดความเสี่ยง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โครงงานนี้ใช้ข้อมูลออนไลน์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ไม่ต้องเก็บแบบสอบถาม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  <a:hlinkClick xmlns:r="http://schemas.openxmlformats.org/officeDocument/2006/relationships" r:id="R9c8142deb9ed44db"/>
              </a:rPr>
              <a:t>ลิงก์ 2: ปัจจัยตลาด (CSV ZIP)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  <a:hlinkClick xmlns:r="http://schemas.openxmlformats.org/officeDocument/2006/relationships" r:id="Rc08630af9d9e46c4"/>
              </a:rPr>
              <a:t>ลิงก์ 3: หน้าคลังข้อมูลและคำอธิบาย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ตรวจวันที่ซ้ำและค่าขาดหาย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แปลงเปอร์เซ็นต์เป็นทศนิยม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2.3 ทฤษฎีเวกเตอร์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เวกเตอร์ผลตอบแทน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 10 อุตสาหกรรม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ในวันเดียวกัน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ตัวอย่าง 3 ตัว: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[0.01, -0.005, 0.02]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Dot product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คูณผลตอบแทนกับสัดส่วน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แล้วรวมผลคูณทุกตัว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ตัวอย่าง: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0.004 - 0.002 + 0.004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ได้ผลตอบแทน 0.6%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เวกเตอร์สัดส่วน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สัดส่วนเงินของแต่ละตัว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ตัวอย่าง: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[0.40, 0.40, 0.20]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สัดส่วนรวมเท่ากับ 1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หนึ่งวันเป็นหนึ่งเวกเตอร์ผลตอบแทน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ใช้ตัวเลขทศนิยม เช่น 1% เขียนเป็น 0.01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เมทริกซ์ข้อมูลและ covariance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เมทริกซ์ข้อมูล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แถวแทนวันซื้อขาย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คอลัมน์แทนอุตสาหกรรม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คูณเมทริกซ์ข้อมูลกับ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เวกเตอร์สัดส่วนเพื่อหา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ผลตอบแทนพอร์ตทุกวัน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Transpose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สลับแถวกับคอลัมน์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ลบค่าเฉลี่ยแต่ละคอลัมน์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แล้วคูณ transpose กับ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ข้อมูลที่ลบค่าเฉลี่ย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หารด้วยจำนวนวันลบ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Covariance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เมทริกซ์ขนาด 10 × 10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แนวทแยง: ความแปรปรวน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นอกแนวทแยง: การเคลื่อนไหวร่วม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ใช้คำนวณความเสี่ยงพอร์ต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นำเวกเตอร์แต่ละวันมาเรียงเป็นแถว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ข้อมูล 150 วันและ 10 อุตสาหกรรม เป็นเมทริกซ์ 150 × 10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วิธีแก้ระบบสมการเชิงเส้น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Gaussian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กำจัดตัวแปรให้เป็น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เมทริกซ์สามเหลี่ยมบน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แทนค่าย้อนกลับเพื่อหา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สัดส่วนลงทุนแต่ละตัว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LU และ adjugate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LU แยกเมทริกซ์เป็น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สามเหลี่ยมล่างและบน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adjugate ใช้หาผกผัน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ของตัวอย่าง 3 × 3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เมื่อ determinant ไม่เป็นศูนย์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Gauss–Jordan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กำจัดตัวแปรต่อจนได้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รูปแถวลดรูป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อ่านคำตอบโดยตรง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ตรวจคำตอบเทียบ Gaussian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หาพอร์ตที่ทำให้ความแปรปรวนต่ำที่สุด โดยสัดส่วนรวมเท่ากับ 1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แปลงเงื่อนไขหาคำตอบเป็นระบบสมการเชิงเส้น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Least Squares Estimation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ประมาณความไวต่อปัจจัยตลาด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หักผลตอบแทนปลอดความเสี่ยง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112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ผลตอบแทนส่วนเกินของอุตสาหกรรม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ประมาณด้วยค่าคงที่และปัจจัยตลาด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เลือกสัมประสิทธิ์ที่ทำให้ผลรวม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ของความคลาดเคลื่อนยกกำลังสองต่ำที่สุด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ใช้ SVD ช่วยคำนวณคำตอบ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สร้างคอลัมน์ค่าคงที่และปัจจัยตลาด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ประมาณ alpha และ beta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 RMSE ในช่วงทดสอบ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ใช้ beta อธิบายความไวต่อตลาด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Eigenvalue, SVD และ PCA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Eigenvalue / vector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Eigenvector แสดงทิศทาง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ที่ข้อมูลกระจายตัว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Eigenvalue แสดง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ความแปรปรวนในทิศทางนั้น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ใช้กับ covariance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PCA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เรียงองค์ประกอบตาม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ความแปรปรวนที่อธิบายได้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เลือกเกณฑ์สะสม เช่น 90%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ประมาณ covariance ใหม่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เติมค่าบวกบนแนวทแยง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SVD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แยกข้อมูลเป็น U, S, V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V ให้ทิศทางองค์ประกอบ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S ให้ขนาดขององค์ประกอบ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ใช้ pseudoinverse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แก้ Least Squares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ค้นหาปัจจัยร่วมจากข้อมูลที่ลบค่าเฉลี่ยแล้ว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เลือกองค์ประกอบจากข้อมูลช่วงสร้างแบบจำลองเท่านั้น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แนวทางพัฒนา: เปรียบเทียบ 3 พอร์ต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พอร์ต A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ลงทุนเท่ากันทุกอุตสาหกรรม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10 อุตสาหกรรม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ตัวละ 10%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ใช้เป็นเกณฑ์เปรียบเทียบ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พอร์ต C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หาความแปรปรวนต่ำสุด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จาก covariance แบบ PCA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เติมค่าบวกบนแนวทแยง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ก่อนแก้ระบบสมการ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ตรวจความไวของสัดส่วน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พอร์ต B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หาความแปรปรวนต่ำสุด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จาก covariance ปกติ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แก้ระบบสมการเพื่อหา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สัดส่วนลงทุน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รายงานค่าติดลบถ้ามี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ใช้ข้อมูลชุดเดียวกันและกติกาทดสอบเดียวกัน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รายงานผลจริง แม้ PCA จะไม่ได้ให้ผลดีที่สุด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ขั้นตอนพัฒนาและทดลอง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แยกอดีตสำหรับสร้างแบบจำลอง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เตรียมและจับคู่วันที่ของข้อมูล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112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2020–2023: เตรียมข้อมูลและสร้างพอร์ต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2024–2025: ประเมินผลนอกช่วงสร้าง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แบบจำลอง ด้วยการปรับพอร์ตกลับสู่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สัดส่วนเป้าหมายรายเดือน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เปลี่ยนช่วงสร้างพอร์ตเพื่อทดสอบความไว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คำนวณค่าเฉลี่ยและ covariance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เลือก PCA และ delta ในอดีต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คำนวณสัดส่วนของแต่ละพอร์ต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ทดสอบและเปรียบเทียบผล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ข้อมูลสมมติสำหรับการคำนวณ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ข้อมูลสมมติ 4 วัน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สำหรับสินทรัพย์ A, B, C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414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ใช้หน่วยเปอร์เซ็นต์เพื่อคำนวณง่าย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ค่าเฉลี่ย A = 0%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ค่าเฉลี่ย B = 0%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ค่าเฉลี่ย C = 0%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ข้อมูลที่ลบค่าเฉลี่ยจึงเท่ากับข้อมูลเดิม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ตัวอย่างนี้แสดงวิธี ไม่ใช่ข้อมูลตลาดจริง</a:t>
            </a:r>
          </a:p>
        </p:txBody>
      </p:sp>
      <p:graphicFrame>
        <p:nvGraphicFrame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4AF706C3-523F-4D91-8EA0-E00F2B0C2672}"/>
              </a:ext>
            </a:extLst>
          </p:cNvPr>
          <p:cNvGraphicFramePr/>
          <p:nvPr/>
        </p:nvGraphicFramePr>
        <p:xfrm>
          <a:off xmlns:a="http://schemas.openxmlformats.org/drawingml/2006/main" x="6269069" y="1524000"/>
          <a:ext xmlns:a="http://schemas.openxmlformats.org/drawingml/2006/main" cx="553974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4935"/>
                <a:gridCol w="1384935"/>
                <a:gridCol w="1384935"/>
                <a:gridCol w="1384935"/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วัน</a:t>
                      </a:r>
                    </a:p>
                  </a:txBody>
                  <a:tcPr marL="91440" marR="91440" marT="45720" marB="45720" anchor="ctr">
                    <a:solidFill>
                      <a:srgbClr val="FF470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 (%)</a:t>
                      </a:r>
                    </a:p>
                  </a:txBody>
                  <a:tcPr marL="91440" marR="91440" marT="45720" marB="45720" anchor="ctr">
                    <a:solidFill>
                      <a:srgbClr val="FF470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 (%)</a:t>
                      </a:r>
                    </a:p>
                  </a:txBody>
                  <a:tcPr marL="91440" marR="91440" marT="45720" marB="45720" anchor="ctr">
                    <a:solidFill>
                      <a:srgbClr val="FF470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 (%)</a:t>
                      </a:r>
                    </a:p>
                  </a:txBody>
                  <a:tcPr marL="91440" marR="91440" marT="45720" marB="45720" anchor="ctr">
                    <a:solidFill>
                      <a:srgbClr val="FF470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-2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-3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-2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-3</a:t>
                      </a:r>
                    </a:p>
                  </a:txBody>
                  <a:tcPr marL="91440" marR="91440" marT="45720" marB="45720" anchor="ctr">
                    <a:solidFill>
                      <a:srgbClr val="15151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Covariance ของข้อมูลสมมติ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ความแปรปรวน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A: (1+1+1+1) / 3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ได้ 4/3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B: (4+4+4+4) / 3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ได้ 16/3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C: (9+9+9+9) / 3 = 12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เมทริกซ์ที่ได้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แถว A: [4/3, 0, 0]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แถว B: [0, 16/3, 0]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แถว C: [0, 0, 12]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ใช้เมทริกซ์นี้หาสัดส่วน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ความแปรปรวนร่วม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 กับ B: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(2-2-2+2) / 3 = 0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A กับ C และ B กับ C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คำนวณแบบเดียวกัน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ได้ 0 ทั้งสองคู่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จำนวนข้อมูล 4 วัน จึงหารผลรวมด้วย 4 - 1 = 3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หน่วย covariance ในตัวอย่างคือเปอร์เซ็นต์ยกกำลังสอง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การลดรูปแถวเพื่อหาสัดส่วนพอร์ต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ระบบสมการ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(4/3) × zA = 1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(16/3) × zB = 1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12 × zC = 1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ไม่มีพจน์ข้ามตัวแปร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สัดส่วนคำตอบ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นำแต่ละ z หารด้วย 49/48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wA = 36/49 = 73.47%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wB = 9/49 = 18.37%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wC = 4/49 = 8.16%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สัดส่วนรวมเท่ากับ 100%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การลดรูปแถว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คูณแถว A ด้วย 3/4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คูณแถว B ด้วย 3/16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คูณแถว C ด้วย 1/12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z = [3/4, 3/16, 1/12]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รวม z = 49/48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แก้ covariance × z = [1, 1, 1] แล้วทำให้สัดส่วนรวมเท่ากับ 1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วิธีนี้ให้พอร์ตความแปรปรวนต่ำสุด เมื่อ covariance เป็นบวกแน่นอน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Adjugate และ LU สำหรับตรวจคำตอบ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Determinant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/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ผลคูณแนวทแยง: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4/3, 16/3 และ 12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ได้ determinant = 256/3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/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ค่าที่ได้ไม่เป็นศูนย์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จึงหาเมทริกซ์ผกผันได้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LU Decomposition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L เป็นเมทริกซ์เอกลักษณ์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U เป็น covariance เดิม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แก้ L × y = [1, 1, 1]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แล้วแก้ U × z = y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ได้ z เดิมและสัดส่วนเดิม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Adjugate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แนวทแยงของ adjugate: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[64, 16, 64/9]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หารทุกค่าด้วย 256/3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ผกผันมีแนวทแยง: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[3/4, 3/16, 1/12]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ตรวจคำตอบจากตัวอย่างเดียวกันด้วยวิธีที่ต่างกัน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เมทริกซ์เป็นทแยงจึงเห็นการคำนวณแต่ละขั้นได้ชัด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ความเสี่ยงของพอร์ตจากข้อมูลสมมติ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แทนสัดส่วนในผลรวม covariance × น้ำหนักคู่แต่ละคู่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A8A8A8"/>
                </a:solidFill>
                <a:latin typeface="Leelawadee UI"/>
                <a:ea typeface="Leelawadee UI"/>
                <a:cs typeface="Leelawadee UI"/>
              </a:rPr>
              <a:t>ตัวอย่างนี้พจน์นอกแนวทแยงเป็นศูนย์ จึงรวมเฉพาะ variance × น้ำหนักกำลังสอง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0.99%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ส่วนเบี่ยงเบนมาตรฐาน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พอร์ตสัดส่วน 36:9:4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1.44%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ส่วนเบี่ยงเบนมาตรฐาน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พอร์ตลงทุนเท่ากัน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55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31.3%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ความผันผวนต่ำลงในตัวอย่าง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ผลสมมติ ไม่ใช่ผลตลาดจริง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ข้อเสนอโครงงาน Linear Algebra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r"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defRPr>
            </a:pPr>
            <a:r>
              <a:rPr sz="100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การประเมินผลและสิ่งที่จะส่งมอบ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defPPr algn="l"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defRPr>
            </a:pPr>
            <a:r>
              <a:rPr sz="2400">
                <a:solidFill>
                  <a:srgbClr val="FF4709"/>
                </a:solidFill>
                <a:latin typeface="Leelawadee UI"/>
                <a:ea typeface="Leelawadee UI"/>
                <a:cs typeface="Leelawadee UI"/>
              </a:rPr>
              <a:t>ผลทดลองที่ตรวจสอบย้อนกลับได้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ผลตอบแทนสะสมและความผันผวน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414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แดชบอร์ดแสดงความสัมพันธ์ ผล PCA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สัดส่วนลงทุน และผลทดสอบของ 3 พอร์ต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รายงานตัวอย่างคำนวณตั้งแต่ข้อมูล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จนถึงคำตอบ พร้อมเทียบกับโปรแกรม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 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อภิปรายว่าผลต่างเกิดจากการลดมิติ</a:t>
            </a:r>
          </a:p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หรือการเติมค่าบวกบนแนวทแยง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Maximum drawdown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การกระจุกตัวและสัดส่วนติดลบ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ความไวต่อช่วงข้อมูลและค่า delta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defPPr algn="l"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60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เปรียบเทียบ PCA กับเติม delta อย่างเดียว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2026-10-04T07:19:31.6230000Z</dcterms:created>
  <dcterms:modified xsi:type="dcterms:W3CDTF">2026-10-04T07:19:31.6230000Z</dcterms:modified>
</coreProperties>
</file>